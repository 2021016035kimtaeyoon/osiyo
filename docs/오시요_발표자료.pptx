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2021016035Kimtaeyoon/osiy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5943600" cy="5943600"/>
          </a:xfrm>
          <a:prstGeom prst="ellipse">
            <a:avLst/>
          </a:prstGeom>
          <a:solidFill>
            <a:srgbClr val="2B4B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오시</a:t>
            </a:r>
            <a:pPr indent="0" marL="0">
              <a:buNone/>
            </a:pPr>
            <a:r>
              <a:rPr lang="en-US" sz="6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참여할 사람에게는 안내를, 피할 사람에게는 경로를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집회 공공데이터로 만드는 두 얼굴의 시민 안내 서비스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512064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B2E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5257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팀명을 입력하세요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GS 리부트캠프 · 제품·서비스 개발 부문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집회는 두 개의 얼굴을 가진 정보입니다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EDF1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🙋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참여하려는 사람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집회, 오늘 몇 시부터야?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뭘 지키면서 참여해야 하지?”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언제·어디서 모이는지 공식 정보가 흩어져 있음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63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준수사항(금지·의무)은 법조문 그대로라 읽기 어려움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212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참여 의사를 밝히려면 로그인·개인정보가 필요한 경우가 많음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103120"/>
            <a:ext cx="822960" cy="82296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🚶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피해가려는 사람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108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“오늘 퇴근길, 어디를 막고 있는 거야?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앱은 왜 이걸 모르지?”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일반 지도 앱은 집회로 인한 통제를 실시간 반영하지 못함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663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맞불 집회가 겹치면 통제 범위가 더 넓어지는데 알 방법이 없음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212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행진은 계속 이동하는데 신고서엔 출발지만 적혀 있음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서비스는 이 틈을 메우지 못합니다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2B4B8C">
              <a:alpha val="12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4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 지도 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통제는 반영하지만 원인(집회)은 안 보여줌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69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우회는 알려줘도 "왜 막혔는지"는 모름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2402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D9534F">
              <a:alpha val="12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SNS · 커뮤니티 정보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0175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빠르지만 정확성 검증이 안 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069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출처·기준 시각이 없어 신뢰하기 어려움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3234A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2402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5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오시요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30175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경찰청·서울시 공식 신고 데이터 기반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4069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정보에 출처 + 기준 시각을 함께 표기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오시요 — 하나의 데이터, 두 개의 안내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경찰청·서울시가 이미 갖고 있는 집회 신고 데이터를, 두 종류의 시민에게 각자 필요한 형태로 다시 보여줍니다.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17236" y="2971800"/>
            <a:ext cx="1554480" cy="155448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17236" y="29718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📋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4905756" y="4636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집회 신고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EDF1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참여자 흐름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오늘의 집회 검색·상세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금지·의무·참고 준수사항 정리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익명 참여 예정 집계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08392" y="233172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28432" y="2651760"/>
            <a:ext cx="640080" cy="64008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28432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🚶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805672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회피자 흐름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28432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통제 구역·혼잡도 지도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28432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행진 위치·맞불 겹침 경보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28432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통제 회피 경로 + 지도앱 연결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17236" y="3749040"/>
            <a:ext cx="-836676" cy="0"/>
          </a:xfrm>
          <a:prstGeom prst="line">
            <a:avLst/>
          </a:prstGeom>
          <a:noFill/>
          <a:ln w="19050">
            <a:solidFill>
              <a:srgbClr val="8FA6C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871716" y="3749040"/>
            <a:ext cx="836676" cy="0"/>
          </a:xfrm>
          <a:prstGeom prst="line">
            <a:avLst/>
          </a:prstGeom>
          <a:noFill/>
          <a:ln w="19050">
            <a:solidFill>
              <a:srgbClr val="8FA6CE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참여자 흐름 — 안전하게, 익명으로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검색부터 참여 의사 표시까지, 개인 식별자를 남기지 않고도 필요한 정보를 전부 확인합니다.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EDF1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47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집회 검색·상세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951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주제별 필터, 신고 인원·행진 경로·주최 정보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FDEE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992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준수사항 자동 정리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4670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금지 / 의무 / 참고 3단으로 법조문을 재구성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EAF6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507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참여 예정 집계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982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없이 숫자만 집계 — 누가 눌렀는지 저장 안 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102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· 기준 시각 표기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498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카드에 데이터 출처와 시각을 함께 표시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1051560"/>
            <a:ext cx="3291840" cy="5486400"/>
          </a:xfrm>
          <a:prstGeom prst="roundRect">
            <a:avLst>
              <a:gd name="adj" fmla="val 9722"/>
            </a:avLst>
          </a:prstGeom>
          <a:solidFill>
            <a:srgbClr val="13234A"/>
          </a:solidFill>
          <a:ln/>
          <a:effectLst>
            <a:outerShdw sx="100000" sy="100000" kx="0" ky="0" algn="bl" rotWithShape="0" blurRad="228600" dist="101600" dir="5400000">
              <a:srgbClr val="13234A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82128" y="1554480"/>
            <a:ext cx="3072384" cy="4480560"/>
          </a:xfrm>
          <a:prstGeom prst="roundRect">
            <a:avLst>
              <a:gd name="adj" fmla="val 3571"/>
            </a:avLst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2128" y="1554480"/>
            <a:ext cx="3072384" cy="868680"/>
          </a:xfrm>
          <a:prstGeom prst="roundRect">
            <a:avLst>
              <a:gd name="adj" fmla="val 12632"/>
            </a:avLst>
          </a:prstGeom>
          <a:solidFill>
            <a:srgbClr val="1323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65008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기후위기 대응 촉구 집회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2651760"/>
            <a:ext cx="270662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283464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AF4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3154680"/>
            <a:ext cx="1097280" cy="164592"/>
          </a:xfrm>
          <a:prstGeom prst="roundRect">
            <a:avLst>
              <a:gd name="adj" fmla="val 22222"/>
            </a:avLst>
          </a:prstGeom>
          <a:solidFill>
            <a:srgbClr val="E4EAF4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340156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8065008" y="3886200"/>
            <a:ext cx="270662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06908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AF4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4389120"/>
            <a:ext cx="1097280" cy="164592"/>
          </a:xfrm>
          <a:prstGeom prst="roundRect">
            <a:avLst>
              <a:gd name="adj" fmla="val 22222"/>
            </a:avLst>
          </a:prstGeom>
          <a:solidFill>
            <a:srgbClr val="E4EAF4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463600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8065008" y="5120640"/>
            <a:ext cx="270662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530352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AF4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0" y="5623560"/>
            <a:ext cx="1097280" cy="164592"/>
          </a:xfrm>
          <a:prstGeom prst="roundRect">
            <a:avLst>
              <a:gd name="adj" fmla="val 22222"/>
            </a:avLst>
          </a:prstGeom>
          <a:solidFill>
            <a:srgbClr val="E4EAF4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0" y="587044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회피자 흐름 — 안 마주치게, 안 막히게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위치 추정과 통제 구역 회피 경로 계산으로 우회를 안내하고, 실제 내비게이션은 지도 앱에 맡깁니다.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EDF1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47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 구역 지도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951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 집회를 원형 구역으로 표시, 혼잡도 연동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🚩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992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행진 위치 실시간 추정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4670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제보 + 신고 시간표로 선두 위치 보간 계산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FDEE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507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맞불 겹침 경보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982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집단 위치는 숨기고 구역 단위 위험만 표시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EAF6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102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 회피 경로 + 딥링크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498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경유지만 계산 후 카카오맵·네이버지도·티맵으로 연결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1051560"/>
            <a:ext cx="3291840" cy="5486400"/>
          </a:xfrm>
          <a:prstGeom prst="roundRect">
            <a:avLst>
              <a:gd name="adj" fmla="val 9722"/>
            </a:avLst>
          </a:prstGeom>
          <a:solidFill>
            <a:srgbClr val="13234A"/>
          </a:solidFill>
          <a:ln/>
          <a:effectLst>
            <a:outerShdw sx="100000" sy="100000" kx="0" ky="0" algn="bl" rotWithShape="0" blurRad="228600" dist="101600" dir="5400000">
              <a:srgbClr val="13234A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82128" y="1554480"/>
            <a:ext cx="3072384" cy="4480560"/>
          </a:xfrm>
          <a:prstGeom prst="roundRect">
            <a:avLst>
              <a:gd name="adj" fmla="val 3571"/>
            </a:avLst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2128" y="1554480"/>
            <a:ext cx="3072384" cy="868680"/>
          </a:xfrm>
          <a:prstGeom prst="roundRect">
            <a:avLst>
              <a:gd name="adj" fmla="val 12632"/>
            </a:avLst>
          </a:prstGeom>
          <a:solidFill>
            <a:srgbClr val="D953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65008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맞불 겹침 경보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2651760"/>
            <a:ext cx="270662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283464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AF4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3154680"/>
            <a:ext cx="1097280" cy="164592"/>
          </a:xfrm>
          <a:prstGeom prst="roundRect">
            <a:avLst>
              <a:gd name="adj" fmla="val 22222"/>
            </a:avLst>
          </a:prstGeom>
          <a:solidFill>
            <a:srgbClr val="E4EAF4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340156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2B4B8C"/>
          </a:solidFill>
          <a:ln/>
        </p:spPr>
      </p:sp>
      <p:sp>
        <p:nvSpPr>
          <p:cNvPr id="29" name="Shape 27"/>
          <p:cNvSpPr/>
          <p:nvPr/>
        </p:nvSpPr>
        <p:spPr>
          <a:xfrm>
            <a:off x="8065008" y="3886200"/>
            <a:ext cx="270662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06908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AF4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4389120"/>
            <a:ext cx="1097280" cy="164592"/>
          </a:xfrm>
          <a:prstGeom prst="roundRect">
            <a:avLst>
              <a:gd name="adj" fmla="val 22222"/>
            </a:avLst>
          </a:prstGeom>
          <a:solidFill>
            <a:srgbClr val="E4EAF4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463600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2B4B8C"/>
          </a:solidFill>
          <a:ln/>
        </p:spPr>
      </p:sp>
      <p:sp>
        <p:nvSpPr>
          <p:cNvPr id="33" name="Shape 31"/>
          <p:cNvSpPr/>
          <p:nvPr/>
        </p:nvSpPr>
        <p:spPr>
          <a:xfrm>
            <a:off x="8065008" y="5120640"/>
            <a:ext cx="2706624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530352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E4EAF4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0" y="5623560"/>
            <a:ext cx="1097280" cy="164592"/>
          </a:xfrm>
          <a:prstGeom prst="roundRect">
            <a:avLst>
              <a:gd name="adj" fmla="val 22222"/>
            </a:avLst>
          </a:prstGeom>
          <a:solidFill>
            <a:srgbClr val="E4EAF4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0" y="587044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2B4B8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처음부터 안 받는 게 원칙입니다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CLAUDE.md에 명문화된 6가지 절대 규칙 — 기능 요청보다 우선합니다.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B2E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2439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계정·개인 식별자를 만들지 않음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B2E5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2439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#️⃣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숫자만 집계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83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예정은 카운터 하나만 증가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B2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240280"/>
            <a:ext cx="640080" cy="640080"/>
          </a:xfrm>
          <a:prstGeom prst="ellipse">
            <a:avLst/>
          </a:prstGeom>
          <a:solidFill>
            <a:srgbClr val="2439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구역 단위만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맞불 집회는 좌표가 아닌 구역으로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B2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24397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내비 없음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86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경유지만 계산, 안내는 지도 앱에 위임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4069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B2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24397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상시 표기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5486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출처·기준 시각 없이 데이터 노출 안 함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069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B2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4343400"/>
            <a:ext cx="640080" cy="640080"/>
          </a:xfrm>
          <a:prstGeom prst="ellipse">
            <a:avLst/>
          </a:prstGeom>
          <a:solidFill>
            <a:srgbClr val="24397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2104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추정치 고지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486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예보·혼잡도는 추정치임을 항상 명시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 &amp; 데이터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015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· TypeScript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8346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2B4B8C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4015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(익명 카운터)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SQLite(Prisma) 예정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0" y="28346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D98A1B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1540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34015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 Maps SDK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앱 딥링크(3종)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520440"/>
            <a:ext cx="1097280" cy="0"/>
          </a:xfrm>
          <a:prstGeom prst="line">
            <a:avLst/>
          </a:prstGeom>
          <a:noFill/>
          <a:ln w="22225">
            <a:solidFill>
              <a:srgbClr val="7A87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3520440"/>
            <a:ext cx="1097280" cy="0"/>
          </a:xfrm>
          <a:prstGeom prst="line">
            <a:avLst/>
          </a:prstGeom>
          <a:noFill/>
          <a:ln w="22225">
            <a:solidFill>
              <a:srgbClr val="7A87A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출처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212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경찰청 · 서울경찰청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(집회 신고 현황)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97680" y="507492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26280" y="5212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실시간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도시데이터(혼잡도)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507492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5212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(과거 통계 · 예보 검증)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정직하게 구합니다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서울경찰청 게시판은 robots.txt로 자동 수집이 금지되어 있다는 걸 먼저 확인했습니다. 우회 스크래핑 대신, 공식 절차를 선택했습니다.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122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1122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1122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70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집회 신고 현황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770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경찰청 / 서울경찰청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770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 정식 활용신청 접수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10789920" cy="658368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429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혼잡도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실시간 도시데이터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 준비 (자체 발급 키)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087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통제 공지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0873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TOPIS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4087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종료 확인 — 대체 소스 검토 중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90872"/>
            <a:ext cx="10789920" cy="658368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7457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예보 정확도 검증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47457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 (2011–2023)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7457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통계로 적중률 검증 스크립트 설계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2715768"/>
            <a:ext cx="10789920" cy="0"/>
          </a:xfrm>
          <a:prstGeom prst="line">
            <a:avLst/>
          </a:prstGeom>
          <a:noFill/>
          <a:ln w="12700">
            <a:solidFill>
              <a:srgbClr val="E4EA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실제로 동작하는 화면들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709160"/>
          </a:xfrm>
          <a:prstGeom prst="roundRect">
            <a:avLst>
              <a:gd name="adj" fmla="val 10182"/>
            </a:avLst>
          </a:prstGeom>
          <a:solidFill>
            <a:srgbClr val="13234A"/>
          </a:solidFill>
          <a:ln/>
          <a:effectLst>
            <a:outerShdw sx="100000" sy="100000" kx="0" ky="0" algn="bl" rotWithShape="0" blurRad="177800" dist="76200" dir="5400000">
              <a:srgbClr val="13234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2331720" cy="388620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132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오시요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9923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21868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40156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7947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95935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7880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36168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754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91947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3892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32180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1600200"/>
            <a:ext cx="2514600" cy="4709160"/>
          </a:xfrm>
          <a:prstGeom prst="roundRect">
            <a:avLst>
              <a:gd name="adj" fmla="val 10182"/>
            </a:avLst>
          </a:prstGeom>
          <a:solidFill>
            <a:srgbClr val="13234A"/>
          </a:solidFill>
          <a:ln/>
          <a:effectLst>
            <a:outerShdw sx="100000" sy="100000" kx="0" ky="0" algn="bl" rotWithShape="0" blurRad="177800" dist="76200" dir="5400000">
              <a:srgbClr val="13234A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2011680"/>
            <a:ext cx="2331720" cy="388620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2011680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6616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준수사항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66160" y="28346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299923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26" name="Shape 24"/>
          <p:cNvSpPr/>
          <p:nvPr/>
        </p:nvSpPr>
        <p:spPr>
          <a:xfrm>
            <a:off x="3703320" y="321868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703320" y="340156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8" name="Shape 26"/>
          <p:cNvSpPr/>
          <p:nvPr/>
        </p:nvSpPr>
        <p:spPr>
          <a:xfrm>
            <a:off x="3566160" y="37947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95935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703320" y="417880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703320" y="436168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6160" y="4754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491947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34" name="Shape 32"/>
          <p:cNvSpPr/>
          <p:nvPr/>
        </p:nvSpPr>
        <p:spPr>
          <a:xfrm>
            <a:off x="3703320" y="513892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35" name="Shape 33"/>
          <p:cNvSpPr/>
          <p:nvPr/>
        </p:nvSpPr>
        <p:spPr>
          <a:xfrm>
            <a:off x="3703320" y="532180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1600200"/>
            <a:ext cx="2514600" cy="4709160"/>
          </a:xfrm>
          <a:prstGeom prst="roundRect">
            <a:avLst>
              <a:gd name="adj" fmla="val 10182"/>
            </a:avLst>
          </a:prstGeom>
          <a:solidFill>
            <a:srgbClr val="13234A"/>
          </a:solidFill>
          <a:ln/>
          <a:effectLst>
            <a:outerShdw sx="100000" sy="100000" kx="0" ky="0" algn="bl" rotWithShape="0" blurRad="177800" dist="76200" dir="5400000">
              <a:srgbClr val="13234A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011680"/>
            <a:ext cx="2331720" cy="388620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2011680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E9EE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5508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지도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83680" y="3063240"/>
            <a:ext cx="822960" cy="822960"/>
          </a:xfrm>
          <a:prstGeom prst="ellipse">
            <a:avLst/>
          </a:prstGeom>
          <a:solidFill>
            <a:srgbClr val="D9534F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3703320"/>
            <a:ext cx="548640" cy="548640"/>
          </a:xfrm>
          <a:prstGeom prst="ellipse">
            <a:avLst/>
          </a:prstGeom>
          <a:solidFill>
            <a:srgbClr val="F2A93B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55080" y="28346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299923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44" name="Shape 42"/>
          <p:cNvSpPr/>
          <p:nvPr/>
        </p:nvSpPr>
        <p:spPr>
          <a:xfrm>
            <a:off x="6492240" y="321868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45" name="Shape 43"/>
          <p:cNvSpPr/>
          <p:nvPr/>
        </p:nvSpPr>
        <p:spPr>
          <a:xfrm>
            <a:off x="6492240" y="340156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2B4B8C"/>
          </a:solidFill>
          <a:ln/>
        </p:spPr>
      </p:sp>
      <p:sp>
        <p:nvSpPr>
          <p:cNvPr id="46" name="Shape 44"/>
          <p:cNvSpPr/>
          <p:nvPr/>
        </p:nvSpPr>
        <p:spPr>
          <a:xfrm>
            <a:off x="6355080" y="37947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395935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48" name="Shape 46"/>
          <p:cNvSpPr/>
          <p:nvPr/>
        </p:nvSpPr>
        <p:spPr>
          <a:xfrm>
            <a:off x="6492240" y="417880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49" name="Shape 47"/>
          <p:cNvSpPr/>
          <p:nvPr/>
        </p:nvSpPr>
        <p:spPr>
          <a:xfrm>
            <a:off x="6492240" y="436168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2B4B8C"/>
          </a:solidFill>
          <a:ln/>
        </p:spPr>
      </p:sp>
      <p:sp>
        <p:nvSpPr>
          <p:cNvPr id="50" name="Shape 48"/>
          <p:cNvSpPr/>
          <p:nvPr/>
        </p:nvSpPr>
        <p:spPr>
          <a:xfrm>
            <a:off x="8915400" y="1600200"/>
            <a:ext cx="2514600" cy="4709160"/>
          </a:xfrm>
          <a:prstGeom prst="roundRect">
            <a:avLst>
              <a:gd name="adj" fmla="val 10182"/>
            </a:avLst>
          </a:prstGeom>
          <a:solidFill>
            <a:srgbClr val="13234A"/>
          </a:solidFill>
          <a:ln/>
          <a:effectLst>
            <a:outerShdw sx="100000" sy="100000" kx="0" ky="0" algn="bl" rotWithShape="0" blurRad="177800" dist="76200" dir="5400000">
              <a:srgbClr val="13234A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006840" y="2011680"/>
            <a:ext cx="2331720" cy="388620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52" name="Shape 50"/>
          <p:cNvSpPr/>
          <p:nvPr/>
        </p:nvSpPr>
        <p:spPr>
          <a:xfrm>
            <a:off x="9006840" y="2011680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13234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14400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안내 중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9144000" y="28346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81160" y="299923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56" name="Shape 54"/>
          <p:cNvSpPr/>
          <p:nvPr/>
        </p:nvSpPr>
        <p:spPr>
          <a:xfrm>
            <a:off x="9281160" y="321868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57" name="Shape 55"/>
          <p:cNvSpPr/>
          <p:nvPr/>
        </p:nvSpPr>
        <p:spPr>
          <a:xfrm>
            <a:off x="9281160" y="340156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58" name="Shape 56"/>
          <p:cNvSpPr/>
          <p:nvPr/>
        </p:nvSpPr>
        <p:spPr>
          <a:xfrm>
            <a:off x="9144000" y="37947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81160" y="3959352"/>
            <a:ext cx="1691640" cy="146304"/>
          </a:xfrm>
          <a:prstGeom prst="roundRect">
            <a:avLst>
              <a:gd name="adj" fmla="val 18750"/>
            </a:avLst>
          </a:prstGeom>
          <a:solidFill>
            <a:srgbClr val="E4EAF4"/>
          </a:solidFill>
          <a:ln/>
        </p:spPr>
      </p:sp>
      <p:sp>
        <p:nvSpPr>
          <p:cNvPr id="60" name="Shape 58"/>
          <p:cNvSpPr/>
          <p:nvPr/>
        </p:nvSpPr>
        <p:spPr>
          <a:xfrm>
            <a:off x="9281160" y="417880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E4EAF4"/>
          </a:solidFill>
          <a:ln/>
        </p:spPr>
      </p:sp>
      <p:sp>
        <p:nvSpPr>
          <p:cNvPr id="61" name="Shape 59"/>
          <p:cNvSpPr/>
          <p:nvPr/>
        </p:nvSpPr>
        <p:spPr>
          <a:xfrm>
            <a:off x="9281160" y="4361688"/>
            <a:ext cx="502920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6단계로 완성하는 오시요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10543032" cy="0"/>
          </a:xfrm>
          <a:prstGeom prst="line">
            <a:avLst/>
          </a:prstGeom>
          <a:noFill/>
          <a:ln w="38100">
            <a:solidFill>
              <a:srgbClr val="E4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2857500"/>
            <a:ext cx="502920" cy="502920"/>
          </a:xfrm>
          <a:prstGeom prst="ellipse">
            <a:avLst/>
          </a:prstGeom>
          <a:solidFill>
            <a:srgbClr val="2E9E6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57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셋업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80106" y="2857500"/>
            <a:ext cx="502920" cy="502920"/>
          </a:xfrm>
          <a:prstGeom prst="ellipse">
            <a:avLst/>
          </a:prstGeom>
          <a:solidFill>
            <a:srgbClr val="2E9E6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80106" y="2857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8606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· 목업 데이터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88713" y="2857500"/>
            <a:ext cx="502920" cy="502920"/>
          </a:xfrm>
          <a:prstGeom prst="ellipse">
            <a:avLst/>
          </a:prstGeom>
          <a:solidFill>
            <a:srgbClr val="2E9E6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8713" y="2857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17213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화면 5종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97319" y="2857500"/>
            <a:ext cx="502920" cy="502920"/>
          </a:xfrm>
          <a:prstGeom prst="ellipse">
            <a:avLst/>
          </a:prstGeom>
          <a:solidFill>
            <a:srgbClr val="2E9E6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97319" y="2857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25819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· 맞불 경보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05926" y="2857500"/>
            <a:ext cx="502920" cy="502920"/>
          </a:xfrm>
          <a:prstGeom prst="ellipse">
            <a:avLst/>
          </a:prstGeom>
          <a:solidFill>
            <a:srgbClr val="2E9E6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05926" y="2857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34426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 회피 길찾기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114532" y="2857500"/>
            <a:ext cx="502920" cy="502920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114532" y="2857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43032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연동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371600" y="4297680"/>
            <a:ext cx="9418320" cy="173736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/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691640" y="4526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여기 — 6단계 진행 중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48920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활용신청 접수 완료 (심의 대기) · 서울시 실시간 도시데이터 연동 준비 · SQLite 전환 설계 중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문제가 중요한가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1B2E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606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매일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657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어딘가에서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집회가 신고됩니다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1B2E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2606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48시간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657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 최소 사전 신고 기한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이번 주 통제는 이미 정해져 있음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2103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1B2E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2606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0건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657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오시요가 저장하는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식별 정보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집회의 자유를 보장하는 일과, 시민의 이동권을 지키는 일은 서로 반대말이 아닙니다 — 정확한 정보가 둘 다를 가능하게 합니다.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 소개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331720"/>
            <a:ext cx="1097280" cy="1097280"/>
          </a:xfrm>
          <a:prstGeom prst="ellipse">
            <a:avLst/>
          </a:prstGeom>
          <a:solidFill>
            <a:srgbClr val="EDF1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2331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이름을 입력하세요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/ 담당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소개를 입력하세요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19202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2331720"/>
            <a:ext cx="1097280" cy="1097280"/>
          </a:xfrm>
          <a:prstGeom prst="ellipse">
            <a:avLst/>
          </a:prstGeom>
          <a:solidFill>
            <a:srgbClr val="EDF1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57800" y="2331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이름을 입력하세요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/ 담당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소개를 입력하세요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19202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127000" dist="38100" dir="5400000">
              <a:srgbClr val="1323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0" y="2331720"/>
            <a:ext cx="1097280" cy="1097280"/>
          </a:xfrm>
          <a:prstGeom prst="ellipse">
            <a:avLst/>
          </a:prstGeom>
          <a:solidFill>
            <a:srgbClr val="EDF1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0" y="2331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이름을 입력하세요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/ 담당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소개를 입력하세요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5486400" cy="5486400"/>
          </a:xfrm>
          <a:prstGeom prst="ellipse">
            <a:avLst/>
          </a:prstGeom>
          <a:solidFill>
            <a:srgbClr val="2B4B8C">
              <a:alpha val="2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오시</a:t>
            </a:r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참여할 사람에게는 안내를, 피할 사람에게는 경로를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38404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B2E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114300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github.com/2021016035Kimtaeyoon/osiyo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669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 · Q&amp;A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2026-09-10T04:24:24Z</dcterms:created>
  <dcterms:modified xsi:type="dcterms:W3CDTF">2026-09-10T04:24:24Z</dcterms:modified>
</cp:coreProperties>
</file>